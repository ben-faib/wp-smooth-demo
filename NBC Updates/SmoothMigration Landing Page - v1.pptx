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70" r:id="rId5"/>
    <p:sldId id="265" r:id="rId6"/>
    <p:sldId id="266" r:id="rId7"/>
    <p:sldId id="267" r:id="rId8"/>
    <p:sldId id="260" r:id="rId9"/>
    <p:sldId id="269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63CA5D-54C7-D5C4-6225-E1F60AE46CC7}" name="Coyte, Matthew" initials="CM" userId="S::matthew.coyte@bnc.ca::13a4daa8-4079-449d-9bb6-8c18f0c74f31" providerId="AD"/>
  <p188:author id="{69A0FB6F-7EED-B5E9-5A7C-CF7CB293DBBB}" name="Bouhmouch, Idriss" initials="BI" userId="S::idriss.bouhmouch@bnc.ca::fa355965-c003-4aad-a1bb-db09ecceba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7E91A2-C047-A6EF-5B07-0DF46069936E}" v="17" dt="2025-10-14T17:02:20.232"/>
    <p1510:client id="{DFF4666E-E049-D29C-8440-9E6EDF99E197}" v="2" dt="2025-10-14T15:31:46.983"/>
    <p1510:client id="{FAAF45F8-DC24-09B9-B4D1-03336AFD8C94}" v="135" dt="2025-10-14T13:56:27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bc.ca/personal/switch-national-bank/newcomers/guide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bc.ca/personal/switch-national-bank/newcomers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nbc.ca/personal/accounts/deposit-insurance.html" TargetMode="External"/><Relationship Id="rId4" Type="http://schemas.openxmlformats.org/officeDocument/2006/relationships/hyperlink" Target="https://www.nbc.ca/personal/accounts/newcomers.html#notes-item-e24529f2b5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bc.ca/personal/accounts/newcomers.html#notes-item-e24529f2b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https:/www.nbc.ca/personal/accounts/newcomers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bc.ca/personal/accounts/newcomers.html#notes-item-e24529f2b5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bc.ca/personal/switch-national-bank/newcomers/guide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SmoothMigration</a:t>
            </a:r>
            <a:r>
              <a:rPr lang="en-US"/>
              <a:t> x</a:t>
            </a:r>
            <a:br>
              <a:rPr lang="en-US"/>
            </a:br>
            <a:r>
              <a:rPr lang="en-US"/>
              <a:t>NBC landing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website&#10;&#10;AI-generated content may be incorrect.">
            <a:extLst>
              <a:ext uri="{FF2B5EF4-FFF2-40B4-BE49-F238E27FC236}">
                <a16:creationId xmlns:a16="http://schemas.microsoft.com/office/drawing/2014/main" id="{3A6722F9-50A1-9491-EBF9-6F53B66841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2544" y="-146"/>
            <a:ext cx="10364611" cy="38013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42BDCF-3AFC-0851-0B0A-17664FF2FA96}"/>
              </a:ext>
            </a:extLst>
          </p:cNvPr>
          <p:cNvSpPr txBox="1"/>
          <p:nvPr/>
        </p:nvSpPr>
        <p:spPr>
          <a:xfrm>
            <a:off x="1038478" y="4197743"/>
            <a:ext cx="1011504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00314D"/>
                </a:solidFill>
                <a:ea typeface="+mn-lt"/>
                <a:cs typeface="+mn-lt"/>
              </a:rPr>
              <a:t>Copy: Discover solutions tailored to your needs to help you make the most of your future in Canada.</a:t>
            </a:r>
            <a:endParaRPr lang="en-US"/>
          </a:p>
          <a:p>
            <a:pPr algn="ctr"/>
            <a:br>
              <a:rPr lang="en-US">
                <a:solidFill>
                  <a:srgbClr val="00314D"/>
                </a:solidFill>
                <a:ea typeface="+mn-lt"/>
                <a:cs typeface="+mn-lt"/>
              </a:rPr>
            </a:br>
            <a:r>
              <a:rPr lang="en-US">
                <a:solidFill>
                  <a:srgbClr val="00314D"/>
                </a:solidFill>
                <a:ea typeface="+mn-lt"/>
                <a:cs typeface="+mn-lt"/>
              </a:rPr>
              <a:t>Get $550 cashback when you open your first </a:t>
            </a:r>
            <a:r>
              <a:rPr lang="en-US" err="1">
                <a:solidFill>
                  <a:srgbClr val="00314D"/>
                </a:solidFill>
                <a:ea typeface="+mn-lt"/>
                <a:cs typeface="+mn-lt"/>
              </a:rPr>
              <a:t>chequing</a:t>
            </a:r>
            <a:r>
              <a:rPr lang="en-US">
                <a:solidFill>
                  <a:srgbClr val="00314D"/>
                </a:solidFill>
                <a:ea typeface="+mn-lt"/>
                <a:cs typeface="+mn-lt"/>
              </a:rPr>
              <a:t> account and up to 3 years with no monthly fee</a:t>
            </a:r>
            <a:endParaRPr lang="en-US"/>
          </a:p>
          <a:p>
            <a:pPr algn="ctr"/>
            <a:endParaRPr lang="en-US">
              <a:solidFill>
                <a:srgbClr val="00314D"/>
              </a:solidFill>
              <a:latin typeface="Gilroy-Light"/>
            </a:endParaRPr>
          </a:p>
          <a:p>
            <a:pPr algn="ctr"/>
            <a:r>
              <a:rPr lang="en-US">
                <a:solidFill>
                  <a:srgbClr val="00314D"/>
                </a:solidFill>
                <a:latin typeface="Gilroy-Light"/>
              </a:rPr>
              <a:t>CTA: Replace '</a:t>
            </a:r>
            <a:r>
              <a:rPr lang="en-US" b="1">
                <a:solidFill>
                  <a:srgbClr val="00314D"/>
                </a:solidFill>
                <a:latin typeface="Gilroy-Light"/>
              </a:rPr>
              <a:t>Visit Partner</a:t>
            </a:r>
            <a:r>
              <a:rPr lang="en-US">
                <a:solidFill>
                  <a:srgbClr val="00314D"/>
                </a:solidFill>
                <a:latin typeface="Gilroy-Light"/>
              </a:rPr>
              <a:t>'  with 'Advice on getting settled' = linking to: </a:t>
            </a:r>
            <a:r>
              <a:rPr lang="en-US">
                <a:solidFill>
                  <a:srgbClr val="00314D"/>
                </a:solidFill>
                <a:ea typeface="+mn-lt"/>
                <a:cs typeface="+mn-lt"/>
                <a:hlinkClick r:id="rId3"/>
              </a:rPr>
              <a:t>https://www.nbc.ca/personal/switch-national-bank/newcomers/guide.html</a:t>
            </a:r>
            <a:endParaRPr lang="en-US">
              <a:solidFill>
                <a:srgbClr val="00314D"/>
              </a:solidFill>
              <a:hlinkClick r:id="rId3"/>
            </a:endParaRPr>
          </a:p>
          <a:p>
            <a:pPr algn="ctr"/>
            <a:endParaRPr lang="en-US">
              <a:solidFill>
                <a:srgbClr val="00314D"/>
              </a:solidFill>
              <a:latin typeface="Gilroy-Light"/>
            </a:endParaRPr>
          </a:p>
          <a:p>
            <a:pPr algn="ctr"/>
            <a:r>
              <a:rPr lang="en-US">
                <a:solidFill>
                  <a:srgbClr val="00314D"/>
                </a:solidFill>
                <a:latin typeface="Gilroy-Light"/>
              </a:rPr>
              <a:t>CTA: Replace '</a:t>
            </a:r>
            <a:r>
              <a:rPr lang="en-US" b="1">
                <a:solidFill>
                  <a:srgbClr val="00314D"/>
                </a:solidFill>
                <a:latin typeface="Gilroy-Light"/>
              </a:rPr>
              <a:t>Talk to our Team</a:t>
            </a:r>
            <a:r>
              <a:rPr lang="en-US">
                <a:solidFill>
                  <a:srgbClr val="00314D"/>
                </a:solidFill>
                <a:latin typeface="Gilroy-Light"/>
              </a:rPr>
              <a:t>' with 'Open an Account Online' = linking to: TBD</a:t>
            </a:r>
          </a:p>
        </p:txBody>
      </p:sp>
    </p:spTree>
    <p:extLst>
      <p:ext uri="{BB962C8B-B14F-4D97-AF65-F5344CB8AC3E}">
        <p14:creationId xmlns:p14="http://schemas.microsoft.com/office/powerpoint/2010/main" val="2881028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 shot of a phone&#10;&#10;AI-generated content may be incorrect.">
            <a:extLst>
              <a:ext uri="{FF2B5EF4-FFF2-40B4-BE49-F238E27FC236}">
                <a16:creationId xmlns:a16="http://schemas.microsoft.com/office/drawing/2014/main" id="{6FDD86AF-2631-530B-5CCB-9BBA9E8660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333" y="302163"/>
            <a:ext cx="11225388" cy="11470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D714E5-6726-BC0C-59E2-7E6E1F7DC570}"/>
              </a:ext>
            </a:extLst>
          </p:cNvPr>
          <p:cNvSpPr txBox="1"/>
          <p:nvPr/>
        </p:nvSpPr>
        <p:spPr>
          <a:xfrm>
            <a:off x="917221" y="1721555"/>
            <a:ext cx="9821333" cy="23852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Replace 'Overview' with = Why choose National Bank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>
                <a:solidFill>
                  <a:srgbClr val="333333"/>
                </a:solidFill>
                <a:latin typeface="Calibri"/>
                <a:ea typeface="+mn-lt"/>
                <a:cs typeface="Segoe UI"/>
              </a:rPr>
              <a:t>National Bank of Canada is one of Canada’s six largest banks, with a dynamic presence across key financial segments such as personal, business, and international banking. Offering a wide range of products and services, National Bank is committed to providing high-quality service. Discover why National Bank was named the top bank for newcomers by MoneySense in 2024 and how they're helping their clients build their </a:t>
            </a:r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Segoe UI"/>
              </a:rPr>
              <a:t>future in Canada. </a:t>
            </a:r>
            <a:br>
              <a:rPr lang="en-US" sz="1600">
                <a:latin typeface="Calibri"/>
                <a:ea typeface="Calibri"/>
                <a:cs typeface="Segoe UI"/>
              </a:rPr>
            </a:br>
            <a:endParaRPr lang="en-US" sz="1600">
              <a:solidFill>
                <a:srgbClr val="333333"/>
              </a:solidFill>
              <a:latin typeface="Calibri"/>
              <a:ea typeface="Calibri"/>
              <a:cs typeface="Segoe UI"/>
            </a:endParaRPr>
          </a:p>
          <a:p>
            <a:pPr marL="285750" indent="-285750">
              <a:buFont typeface="Arial"/>
              <a:buChar char="•"/>
            </a:pPr>
            <a:endParaRPr lang="en-US" sz="900">
              <a:solidFill>
                <a:srgbClr val="333333"/>
              </a:solidFill>
              <a:latin typeface="Segoe UI"/>
              <a:cs typeface="Segoe UI"/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58FC9A-687D-C8BC-E93E-A269B5C90C59}"/>
              </a:ext>
            </a:extLst>
          </p:cNvPr>
          <p:cNvSpPr/>
          <p:nvPr/>
        </p:nvSpPr>
        <p:spPr>
          <a:xfrm>
            <a:off x="741769" y="458548"/>
            <a:ext cx="1996035" cy="9710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8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E6E47-C70C-70B8-27F1-988DD31B7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 shot of a phone&#10;&#10;AI-generated content may be incorrect.">
            <a:extLst>
              <a:ext uri="{FF2B5EF4-FFF2-40B4-BE49-F238E27FC236}">
                <a16:creationId xmlns:a16="http://schemas.microsoft.com/office/drawing/2014/main" id="{AE9BCCBB-1DC6-ABA0-3E4D-223E98A798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333" y="302163"/>
            <a:ext cx="11225388" cy="11470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E67E1A-9F5E-F8F8-A4F4-783E80EE506B}"/>
              </a:ext>
            </a:extLst>
          </p:cNvPr>
          <p:cNvSpPr txBox="1"/>
          <p:nvPr/>
        </p:nvSpPr>
        <p:spPr>
          <a:xfrm>
            <a:off x="917221" y="1721555"/>
            <a:ext cx="9821333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Replace 'How it helps relocators' with = 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How they help newcomers</a:t>
            </a:r>
          </a:p>
          <a:p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National Bank makes handling your everyday transactions simple. From getting the credit card that best fits your needs, to creating a long-term financial strategy, National Bank’s services for newcomers are designed to give you the tools and support you need to build your future in Canada.</a:t>
            </a:r>
            <a:br>
              <a:rPr lang="en-US" sz="1600">
                <a:solidFill>
                  <a:srgbClr val="333333"/>
                </a:solidFill>
                <a:ea typeface="+mn-lt"/>
                <a:cs typeface="+mn-lt"/>
              </a:rPr>
            </a:br>
            <a:endParaRPr lang="en-US" sz="1600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Take advantage of a wide range of </a:t>
            </a:r>
            <a:r>
              <a:rPr lang="en-US" sz="1600" u="sng">
                <a:solidFill>
                  <a:srgbClr val="1572C5"/>
                </a:solidFill>
                <a:latin typeface="Calibri"/>
                <a:ea typeface="+mn-lt"/>
                <a:cs typeface="+mn-lt"/>
                <a:hlinkClick r:id="rId3"/>
              </a:rPr>
              <a:t>banking products and services to manage your finances</a:t>
            </a:r>
            <a:r>
              <a:rPr lang="en-US" sz="160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 more confidently and </a:t>
            </a:r>
            <a:r>
              <a:rPr lang="en-US" sz="1600">
                <a:solidFill>
                  <a:srgbClr val="333333"/>
                </a:solidFill>
                <a:latin typeface="Calibri"/>
                <a:ea typeface="+mn-lt"/>
                <a:cs typeface="Segoe UI"/>
              </a:rPr>
              <a:t>build your projects in Canada</a:t>
            </a:r>
            <a:r>
              <a:rPr lang="en-US" sz="160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Unlimited electronic transactions and </a:t>
            </a:r>
            <a:r>
              <a:rPr lang="en-US" sz="1600" b="1" i="1" err="1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Interac</a:t>
            </a:r>
            <a:r>
              <a:rPr lang="en-US" sz="1600" b="1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 e-transfers</a:t>
            </a:r>
            <a:r>
              <a:rPr lang="en-US" sz="1050" b="1" baseline="3000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®</a:t>
            </a:r>
            <a:r>
              <a:rPr lang="en-US" sz="160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; plus access to mortgages, auto loans</a:t>
            </a:r>
            <a:r>
              <a:rPr lang="en-US" sz="1600" baseline="30000">
                <a:solidFill>
                  <a:srgbClr val="1572C5"/>
                </a:solidFill>
                <a:latin typeface="Calibri"/>
                <a:ea typeface="+mn-lt"/>
                <a:cs typeface="+mn-lt"/>
                <a:hlinkClick r:id="rId4"/>
              </a:rPr>
              <a:t>3</a:t>
            </a:r>
            <a:r>
              <a:rPr lang="en-US" sz="160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, business accounts, investment solutions and more. </a:t>
            </a:r>
            <a:endParaRPr lang="en-US" sz="1600">
              <a:latin typeface="Calibri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Come visit us at one of our over </a:t>
            </a:r>
            <a:r>
              <a:rPr lang="en-US" sz="1600" b="1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360 branches</a:t>
            </a:r>
            <a:r>
              <a:rPr lang="en-US" sz="160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, or access one of our </a:t>
            </a:r>
            <a:r>
              <a:rPr lang="en-US" sz="1600" b="1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2,000 automated banking machines </a:t>
            </a:r>
            <a:r>
              <a:rPr lang="en-US" sz="160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across Canada.</a:t>
            </a:r>
            <a:r>
              <a:rPr lang="en-US" sz="1600" baseline="30000">
                <a:solidFill>
                  <a:srgbClr val="1572C5"/>
                </a:solidFill>
                <a:latin typeface="Calibri"/>
                <a:ea typeface="+mn-lt"/>
                <a:cs typeface="+mn-lt"/>
                <a:hlinkClick r:id="rId4"/>
              </a:rPr>
              <a:t>3</a:t>
            </a:r>
            <a:endParaRPr lang="en-US" sz="1600" baseline="30000">
              <a:latin typeface="Calibri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Access your funds abroad</a:t>
            </a:r>
            <a:r>
              <a:rPr lang="en-US" sz="160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 by making withdrawals at an ABM using our network partners around the world.</a:t>
            </a:r>
            <a:r>
              <a:rPr lang="en-US" sz="1600" baseline="30000">
                <a:solidFill>
                  <a:srgbClr val="1572C5"/>
                </a:solidFill>
                <a:latin typeface="Calibri"/>
                <a:ea typeface="+mn-lt"/>
                <a:cs typeface="+mn-lt"/>
                <a:hlinkClick r:id="rId4"/>
              </a:rPr>
              <a:t>4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Y</a:t>
            </a:r>
            <a:r>
              <a:rPr lang="en-US" sz="1600" b="1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our deposits with National Bank of Canada are protected</a:t>
            </a:r>
            <a:r>
              <a:rPr lang="en-US" sz="160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 by the </a:t>
            </a:r>
            <a:r>
              <a:rPr lang="en-US" sz="1600" u="sng">
                <a:solidFill>
                  <a:srgbClr val="1572C5"/>
                </a:solidFill>
                <a:latin typeface="Calibri"/>
                <a:ea typeface="+mn-lt"/>
                <a:cs typeface="+mn-lt"/>
                <a:hlinkClick r:id="rId5"/>
              </a:rPr>
              <a:t>Canada Deposit Insurance Corporation (CDIC)</a:t>
            </a:r>
            <a:r>
              <a:rPr lang="en-US" sz="160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Save on your </a:t>
            </a:r>
            <a:r>
              <a:rPr lang="en-US" sz="1600" b="1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first order of 100 cheques</a:t>
            </a:r>
            <a:r>
              <a:rPr lang="en-US" sz="160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 (not including tax and shipping).</a:t>
            </a:r>
            <a:br>
              <a:rPr lang="en-US" sz="2400">
                <a:latin typeface="Calibri"/>
              </a:rPr>
            </a:b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31892-6681-D5A9-FD33-108F64D47BF3}"/>
              </a:ext>
            </a:extLst>
          </p:cNvPr>
          <p:cNvSpPr/>
          <p:nvPr/>
        </p:nvSpPr>
        <p:spPr>
          <a:xfrm>
            <a:off x="2712253" y="476407"/>
            <a:ext cx="3121175" cy="8162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54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50B7B-3153-0B9E-31ED-244C4159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 shot of a phone&#10;&#10;AI-generated content may be incorrect.">
            <a:extLst>
              <a:ext uri="{FF2B5EF4-FFF2-40B4-BE49-F238E27FC236}">
                <a16:creationId xmlns:a16="http://schemas.microsoft.com/office/drawing/2014/main" id="{E088185D-05F2-D1E7-C92E-49620A3D14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333" y="302163"/>
            <a:ext cx="11225388" cy="11470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74D35C-B7CF-2F38-3B00-153F8B531151}"/>
              </a:ext>
            </a:extLst>
          </p:cNvPr>
          <p:cNvSpPr txBox="1"/>
          <p:nvPr/>
        </p:nvSpPr>
        <p:spPr>
          <a:xfrm>
            <a:off x="917221" y="1721555"/>
            <a:ext cx="9821333" cy="38779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Calibri"/>
                <a:ea typeface="Calibri"/>
                <a:cs typeface="Calibri"/>
              </a:rPr>
              <a:t>Replace 'Fees &amp; Spend' with = </a:t>
            </a:r>
            <a:r>
              <a:rPr lang="en-US" sz="20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Offer for Newcomers</a:t>
            </a:r>
          </a:p>
          <a:p>
            <a:br>
              <a:rPr lang="en-US" sz="1600">
                <a:latin typeface="Arial"/>
                <a:cs typeface="Arial"/>
              </a:rPr>
            </a:br>
            <a:r>
              <a:rPr lang="en-US" sz="1600">
                <a:solidFill>
                  <a:srgbClr val="00314D"/>
                </a:solidFill>
                <a:latin typeface="Arial"/>
                <a:cs typeface="Arial"/>
              </a:rPr>
              <a:t>Get up to $550 cashback to help give your Canadian projects a boost </a:t>
            </a:r>
            <a:endParaRPr lang="en-US" sz="1600">
              <a:latin typeface="Arial"/>
              <a:cs typeface="Arial"/>
            </a:endParaRPr>
          </a:p>
          <a:p>
            <a:r>
              <a:rPr lang="en-US" sz="1600">
                <a:solidFill>
                  <a:srgbClr val="565656"/>
                </a:solidFill>
                <a:latin typeface="Arial"/>
                <a:ea typeface="+mn-lt"/>
                <a:cs typeface="+mn-lt"/>
              </a:rPr>
              <a:t>Your success in Canada starts here, with our special promotion for newcomers. All you need to do is open a </a:t>
            </a:r>
            <a:r>
              <a:rPr lang="en-US" sz="1600" err="1">
                <a:solidFill>
                  <a:srgbClr val="565656"/>
                </a:solidFill>
                <a:latin typeface="Arial"/>
                <a:ea typeface="+mn-lt"/>
                <a:cs typeface="+mn-lt"/>
              </a:rPr>
              <a:t>chequing</a:t>
            </a:r>
            <a:r>
              <a:rPr lang="en-US" sz="1600">
                <a:solidFill>
                  <a:srgbClr val="565656"/>
                </a:solidFill>
                <a:latin typeface="Arial"/>
                <a:ea typeface="+mn-lt"/>
                <a:cs typeface="+mn-lt"/>
              </a:rPr>
              <a:t> account, then add other eligible banking products to the offer by completing the necessary transactions.* Take advantage of this offer</a:t>
            </a:r>
            <a:r>
              <a:rPr lang="en-US" sz="1600" b="1">
                <a:solidFill>
                  <a:srgbClr val="565656"/>
                </a:solidFill>
                <a:latin typeface="Arial"/>
                <a:ea typeface="+mn-lt"/>
                <a:cs typeface="+mn-lt"/>
              </a:rPr>
              <a:t> from 90 days before your arrival and up to 5 years afterward</a:t>
            </a:r>
            <a:r>
              <a:rPr lang="en-US" sz="1600">
                <a:solidFill>
                  <a:srgbClr val="565656"/>
                </a:solidFill>
                <a:latin typeface="Arial"/>
                <a:ea typeface="+mn-lt"/>
                <a:cs typeface="+mn-lt"/>
              </a:rPr>
              <a:t>.</a:t>
            </a:r>
            <a:r>
              <a:rPr lang="en-US" sz="1600" baseline="30000">
                <a:solidFill>
                  <a:srgbClr val="565656"/>
                </a:solidFill>
                <a:latin typeface="Arial"/>
                <a:ea typeface="+mn-lt"/>
                <a:cs typeface="+mn-lt"/>
              </a:rPr>
              <a:t> </a:t>
            </a:r>
            <a:r>
              <a:rPr lang="en-US" sz="1600" baseline="30000">
                <a:solidFill>
                  <a:srgbClr val="1572C5"/>
                </a:solidFill>
                <a:latin typeface="Arial"/>
                <a:ea typeface="+mn-lt"/>
                <a:cs typeface="+mn-lt"/>
                <a:hlinkClick r:id="rId3"/>
              </a:rPr>
              <a:t>1</a:t>
            </a:r>
            <a:endParaRPr lang="en-US" sz="1600">
              <a:latin typeface="Arial"/>
              <a:cs typeface="Arial"/>
            </a:endParaRPr>
          </a:p>
          <a:p>
            <a:br>
              <a:rPr lang="en-US" sz="2900"/>
            </a:br>
            <a:br>
              <a:rPr lang="en-US" sz="2900"/>
            </a:br>
            <a:br>
              <a:rPr lang="en-US" sz="2400">
                <a:latin typeface="Calibri"/>
              </a:rPr>
            </a:br>
            <a:endParaRPr lang="en-US" sz="1600"/>
          </a:p>
          <a:p>
            <a:endParaRPr lang="en-US" sz="1600"/>
          </a:p>
          <a:p>
            <a:endParaRPr lang="en-US" sz="16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E2368D-8C8D-3790-9388-21A4AC42C777}"/>
              </a:ext>
            </a:extLst>
          </p:cNvPr>
          <p:cNvSpPr/>
          <p:nvPr/>
        </p:nvSpPr>
        <p:spPr>
          <a:xfrm>
            <a:off x="6257840" y="512495"/>
            <a:ext cx="1861167" cy="7215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website&#10;&#10;AI-generated content may be incorrect.">
            <a:extLst>
              <a:ext uri="{FF2B5EF4-FFF2-40B4-BE49-F238E27FC236}">
                <a16:creationId xmlns:a16="http://schemas.microsoft.com/office/drawing/2014/main" id="{B53D838A-6501-BF19-EDB4-B47DE8874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29" y="3532643"/>
            <a:ext cx="6015081" cy="2700155"/>
          </a:xfrm>
          <a:prstGeom prst="rect">
            <a:avLst/>
          </a:prstGeom>
        </p:spPr>
      </p:pic>
      <p:pic>
        <p:nvPicPr>
          <p:cNvPr id="8" name="Picture 7" descr="A screenshot of a credit card&#10;&#10;AI-generated content may be incorrect.">
            <a:extLst>
              <a:ext uri="{FF2B5EF4-FFF2-40B4-BE49-F238E27FC236}">
                <a16:creationId xmlns:a16="http://schemas.microsoft.com/office/drawing/2014/main" id="{03A36B0F-262C-8AB3-29DA-4772B2446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054" y="3436270"/>
            <a:ext cx="4899628" cy="28929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6E84D0-F0FD-1579-D043-4F6EA764E309}"/>
              </a:ext>
            </a:extLst>
          </p:cNvPr>
          <p:cNvSpPr txBox="1"/>
          <p:nvPr/>
        </p:nvSpPr>
        <p:spPr>
          <a:xfrm>
            <a:off x="797278" y="6237111"/>
            <a:ext cx="70940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Source: https://www.nbc.ca/personal/accounts/newcomers.html</a:t>
            </a:r>
          </a:p>
        </p:txBody>
      </p:sp>
    </p:spTree>
    <p:extLst>
      <p:ext uri="{BB962C8B-B14F-4D97-AF65-F5344CB8AC3E}">
        <p14:creationId xmlns:p14="http://schemas.microsoft.com/office/powerpoint/2010/main" val="2475946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2F410-E2C4-39E7-2AFB-0D6285F11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 shot of a phone&#10;&#10;AI-generated content may be incorrect.">
            <a:extLst>
              <a:ext uri="{FF2B5EF4-FFF2-40B4-BE49-F238E27FC236}">
                <a16:creationId xmlns:a16="http://schemas.microsoft.com/office/drawing/2014/main" id="{A9E8BD71-A09B-1F23-DE57-BC7DE0782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333" y="302163"/>
            <a:ext cx="11225388" cy="11470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EF8E47-E915-B7C0-09A3-63A651A626DB}"/>
              </a:ext>
            </a:extLst>
          </p:cNvPr>
          <p:cNvSpPr txBox="1"/>
          <p:nvPr/>
        </p:nvSpPr>
        <p:spPr>
          <a:xfrm>
            <a:off x="917221" y="1721555"/>
            <a:ext cx="9821333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Replace 'Countries' with = 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Contact</a:t>
            </a:r>
            <a:endParaRPr lang="en-US"/>
          </a:p>
          <a:p>
            <a:br>
              <a:rPr lang="en-US" sz="2900">
                <a:solidFill>
                  <a:srgbClr val="00314D"/>
                </a:solidFill>
              </a:rPr>
            </a:br>
            <a:br>
              <a:rPr lang="en-US" sz="2900">
                <a:solidFill>
                  <a:srgbClr val="00314D"/>
                </a:solidFill>
              </a:rPr>
            </a:br>
            <a:br>
              <a:rPr lang="en-US" sz="2400">
                <a:latin typeface="Calibri"/>
              </a:rPr>
            </a:b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8606AA-E964-058D-5121-048A5F282D4C}"/>
              </a:ext>
            </a:extLst>
          </p:cNvPr>
          <p:cNvSpPr/>
          <p:nvPr/>
        </p:nvSpPr>
        <p:spPr>
          <a:xfrm>
            <a:off x="8456177" y="573185"/>
            <a:ext cx="1321698" cy="7215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hat&#10;&#10;AI-generated content may be incorrect.">
            <a:extLst>
              <a:ext uri="{FF2B5EF4-FFF2-40B4-BE49-F238E27FC236}">
                <a16:creationId xmlns:a16="http://schemas.microsoft.com/office/drawing/2014/main" id="{6F87D2B0-2BD1-87D8-A0DF-7C62A962C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92" y="2319385"/>
            <a:ext cx="11261416" cy="39185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FB1DB1-B6FD-B949-C7B9-00D143DC9B26}"/>
              </a:ext>
            </a:extLst>
          </p:cNvPr>
          <p:cNvSpPr txBox="1"/>
          <p:nvPr/>
        </p:nvSpPr>
        <p:spPr>
          <a:xfrm>
            <a:off x="797278" y="6237111"/>
            <a:ext cx="70940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Source: https://www.nbc.ca/personal/accounts/newcomers.html</a:t>
            </a:r>
          </a:p>
        </p:txBody>
      </p:sp>
    </p:spTree>
    <p:extLst>
      <p:ext uri="{BB962C8B-B14F-4D97-AF65-F5344CB8AC3E}">
        <p14:creationId xmlns:p14="http://schemas.microsoft.com/office/powerpoint/2010/main" val="1906783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313A-6A20-B94B-B12E-EC6ED09D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 shot of a phone&#10;&#10;AI-generated content may be incorrect.">
            <a:extLst>
              <a:ext uri="{FF2B5EF4-FFF2-40B4-BE49-F238E27FC236}">
                <a16:creationId xmlns:a16="http://schemas.microsoft.com/office/drawing/2014/main" id="{4C3F3603-5BE5-BFB4-BA80-9068ABB3D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333" y="302163"/>
            <a:ext cx="11225388" cy="11470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F746C6-7C4C-9804-3A22-58790DD95B54}"/>
              </a:ext>
            </a:extLst>
          </p:cNvPr>
          <p:cNvSpPr txBox="1"/>
          <p:nvPr/>
        </p:nvSpPr>
        <p:spPr>
          <a:xfrm>
            <a:off x="917221" y="1721555"/>
            <a:ext cx="9821333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Replace 'FAQ' with = 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Little details that matter</a:t>
            </a:r>
          </a:p>
          <a:p>
            <a:br>
              <a:rPr lang="en-US" sz="2900">
                <a:solidFill>
                  <a:srgbClr val="00314D"/>
                </a:solidFill>
              </a:rPr>
            </a:br>
            <a:br>
              <a:rPr lang="en-US" sz="2900">
                <a:solidFill>
                  <a:srgbClr val="00314D"/>
                </a:solidFill>
              </a:rPr>
            </a:br>
            <a:br>
              <a:rPr lang="en-US" sz="2400">
                <a:latin typeface="Calibri"/>
              </a:rPr>
            </a:b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2C59A6-9B96-C219-582E-8CE8A779E719}"/>
              </a:ext>
            </a:extLst>
          </p:cNvPr>
          <p:cNvSpPr/>
          <p:nvPr/>
        </p:nvSpPr>
        <p:spPr>
          <a:xfrm>
            <a:off x="9966690" y="552955"/>
            <a:ext cx="1321698" cy="7215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000296A4-491E-AC59-8390-7E7A2312B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096" y="2231584"/>
            <a:ext cx="9238408" cy="31433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C5CB75-976E-909B-F933-C860951CFAF7}"/>
              </a:ext>
            </a:extLst>
          </p:cNvPr>
          <p:cNvSpPr txBox="1"/>
          <p:nvPr/>
        </p:nvSpPr>
        <p:spPr>
          <a:xfrm>
            <a:off x="917098" y="6112858"/>
            <a:ext cx="740421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4"/>
              </a:rPr>
              <a:t>Source: https://www.nbc.ca/personal/accounts/newcomers.html</a:t>
            </a:r>
          </a:p>
        </p:txBody>
      </p:sp>
    </p:spTree>
    <p:extLst>
      <p:ext uri="{BB962C8B-B14F-4D97-AF65-F5344CB8AC3E}">
        <p14:creationId xmlns:p14="http://schemas.microsoft.com/office/powerpoint/2010/main" val="2353400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F6A1B-3422-CEAE-8ED0-F0F16E1B7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AE65F09-7C72-2C2C-BA65-B4CE4C3A8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" y="295694"/>
            <a:ext cx="4783127" cy="4114800"/>
          </a:xfrm>
          <a:prstGeom prst="rect">
            <a:avLst/>
          </a:prstGeom>
        </p:spPr>
      </p:pic>
      <p:pic>
        <p:nvPicPr>
          <p:cNvPr id="7" name="Picture 6" descr="A white circle with black text&#10;&#10;AI-generated content may be incorrect.">
            <a:extLst>
              <a:ext uri="{FF2B5EF4-FFF2-40B4-BE49-F238E27FC236}">
                <a16:creationId xmlns:a16="http://schemas.microsoft.com/office/drawing/2014/main" id="{FDEA8FBC-71DC-19F4-DC26-660937A35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639" y="1213202"/>
            <a:ext cx="2208389" cy="19409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41B21E-4D00-CD14-EA6D-402EE91CB874}"/>
              </a:ext>
            </a:extLst>
          </p:cNvPr>
          <p:cNvSpPr txBox="1"/>
          <p:nvPr/>
        </p:nvSpPr>
        <p:spPr>
          <a:xfrm>
            <a:off x="5221111" y="201676"/>
            <a:ext cx="492804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Why we recommend</a:t>
            </a:r>
            <a:br>
              <a:rPr lang="en-US" b="1" dirty="0"/>
            </a:br>
            <a:br>
              <a:rPr lang="en-US" b="1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US" sz="1200" dirty="0">
                <a:solidFill>
                  <a:srgbClr val="333333"/>
                </a:solidFill>
                <a:ea typeface="+mn-lt"/>
                <a:cs typeface="+mn-lt"/>
              </a:rPr>
              <a:t>National Bank offers award-winning banking services for newcomers with transparent pricing and in-depth support</a:t>
            </a:r>
            <a:r>
              <a:rPr lang="en-US" sz="1200" dirty="0">
                <a:solidFill>
                  <a:srgbClr val="565656"/>
                </a:solidFill>
                <a:ea typeface="+mn-lt"/>
                <a:cs typeface="+mn-lt"/>
              </a:rPr>
              <a:t> 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/>
          </a:p>
          <a:p>
            <a:endParaRPr lang="en-US"/>
          </a:p>
        </p:txBody>
      </p:sp>
      <p:pic>
        <p:nvPicPr>
          <p:cNvPr id="9" name="Picture 8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FF2F44B1-65E4-D5E0-7909-BB65BA2D5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875" y="3288594"/>
            <a:ext cx="2409473" cy="20447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C2BA18A-D126-E63A-B0EA-875B5EA01D12}"/>
              </a:ext>
            </a:extLst>
          </p:cNvPr>
          <p:cNvSpPr/>
          <p:nvPr/>
        </p:nvSpPr>
        <p:spPr>
          <a:xfrm>
            <a:off x="552955" y="492265"/>
            <a:ext cx="3641414" cy="23938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49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594A9-E5A3-7F69-C319-CB9A5E4A1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CEC8BF5-C0FA-E3D2-C1B5-0C3692D2B9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" y="201287"/>
            <a:ext cx="4783127" cy="4114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0B9982-42C0-85CB-7655-1C4DA80D400F}"/>
              </a:ext>
            </a:extLst>
          </p:cNvPr>
          <p:cNvSpPr txBox="1"/>
          <p:nvPr/>
        </p:nvSpPr>
        <p:spPr>
          <a:xfrm>
            <a:off x="5221111" y="201676"/>
            <a:ext cx="4928048" cy="1969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Typical Timeline</a:t>
            </a:r>
            <a:br>
              <a:rPr lang="en-US" b="1"/>
            </a:br>
            <a:endParaRPr lang="en-US"/>
          </a:p>
          <a:p>
            <a:r>
              <a:rPr lang="en-US" sz="1600">
                <a:solidFill>
                  <a:srgbClr val="565656"/>
                </a:solidFill>
                <a:latin typeface="Arial"/>
                <a:ea typeface="+mn-lt"/>
                <a:cs typeface="Arial"/>
              </a:rPr>
              <a:t>Take advantage of this offer</a:t>
            </a:r>
            <a:r>
              <a:rPr lang="en-US" sz="1600" b="1">
                <a:solidFill>
                  <a:srgbClr val="565656"/>
                </a:solidFill>
                <a:latin typeface="Arial"/>
                <a:ea typeface="+mn-lt"/>
                <a:cs typeface="Arial"/>
              </a:rPr>
              <a:t> from 90 days before your arrival and up to 5 years afterward</a:t>
            </a:r>
            <a:r>
              <a:rPr lang="en-US" sz="1600">
                <a:solidFill>
                  <a:srgbClr val="565656"/>
                </a:solidFill>
                <a:latin typeface="Arial"/>
                <a:ea typeface="+mn-lt"/>
                <a:cs typeface="Arial"/>
              </a:rPr>
              <a:t>.</a:t>
            </a:r>
            <a:r>
              <a:rPr lang="en-US" sz="1100" baseline="30000">
                <a:solidFill>
                  <a:srgbClr val="565656"/>
                </a:solidFill>
                <a:latin typeface="Arial"/>
                <a:ea typeface="+mn-lt"/>
                <a:cs typeface="Arial"/>
              </a:rPr>
              <a:t> </a:t>
            </a:r>
            <a:r>
              <a:rPr lang="en-US" sz="1100" baseline="30000">
                <a:solidFill>
                  <a:srgbClr val="565656"/>
                </a:solidFill>
                <a:latin typeface="Arial"/>
                <a:ea typeface="+mn-lt"/>
                <a:cs typeface="Arial"/>
                <a:hlinkClick r:id="rId3"/>
              </a:rPr>
              <a:t>1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710F40-611F-1AD9-7B67-C56D529F54F4}"/>
              </a:ext>
            </a:extLst>
          </p:cNvPr>
          <p:cNvSpPr/>
          <p:nvPr/>
        </p:nvSpPr>
        <p:spPr>
          <a:xfrm>
            <a:off x="431574" y="2892902"/>
            <a:ext cx="3641414" cy="12205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76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website&#10;&#10;AI-generated content may be incorrect.">
            <a:extLst>
              <a:ext uri="{FF2B5EF4-FFF2-40B4-BE49-F238E27FC236}">
                <a16:creationId xmlns:a16="http://schemas.microsoft.com/office/drawing/2014/main" id="{2E2A439B-DF5C-A006-F7AD-8158031FA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177" y="268032"/>
            <a:ext cx="7889734" cy="28742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8269E-4CAE-F7FF-6A40-7D59BF7110FF}"/>
              </a:ext>
            </a:extLst>
          </p:cNvPr>
          <p:cNvSpPr txBox="1"/>
          <p:nvPr/>
        </p:nvSpPr>
        <p:spPr>
          <a:xfrm>
            <a:off x="1834195" y="3422257"/>
            <a:ext cx="8469663" cy="8265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425"/>
              </a:lnSpc>
            </a:pPr>
            <a:r>
              <a:rPr lang="en-US">
                <a:solidFill>
                  <a:srgbClr val="00314D"/>
                </a:solidFill>
                <a:latin typeface="Gilroy-Light"/>
                <a:cs typeface="Segoe UI"/>
              </a:rPr>
              <a:t>CTA: Replace '</a:t>
            </a:r>
            <a:r>
              <a:rPr lang="en-US" b="1">
                <a:solidFill>
                  <a:srgbClr val="00314D"/>
                </a:solidFill>
                <a:latin typeface="Gilroy-Light"/>
                <a:cs typeface="Segoe UI"/>
              </a:rPr>
              <a:t>Continue to Partner</a:t>
            </a:r>
            <a:r>
              <a:rPr lang="en-US">
                <a:solidFill>
                  <a:srgbClr val="00314D"/>
                </a:solidFill>
                <a:latin typeface="Gilroy-Light"/>
                <a:cs typeface="Segoe UI"/>
              </a:rPr>
              <a:t>' with '</a:t>
            </a:r>
            <a:r>
              <a:rPr lang="en-US" b="1">
                <a:solidFill>
                  <a:srgbClr val="0070C0"/>
                </a:solidFill>
                <a:latin typeface="Gilroy-Light"/>
                <a:cs typeface="Segoe UI"/>
              </a:rPr>
              <a:t>Advice on getting settled</a:t>
            </a:r>
            <a:r>
              <a:rPr lang="en-US">
                <a:solidFill>
                  <a:srgbClr val="00314D"/>
                </a:solidFill>
                <a:latin typeface="Gilroy-Light"/>
                <a:cs typeface="Segoe UI"/>
              </a:rPr>
              <a:t>' = linking to: </a:t>
            </a:r>
            <a:r>
              <a:rPr lang="en-US" u="sng">
                <a:solidFill>
                  <a:srgbClr val="467886"/>
                </a:solidFill>
                <a:cs typeface="Segoe UI"/>
                <a:hlinkClick r:id="rId3"/>
              </a:rPr>
              <a:t>https://www.nbc.ca/personal/switch-national-bank/newcomers/guide.html</a:t>
            </a:r>
            <a:r>
              <a:rPr lang="en-US">
                <a:cs typeface="Segoe UI"/>
              </a:rPr>
              <a:t>​</a:t>
            </a:r>
          </a:p>
          <a:p>
            <a:pPr algn="ctr">
              <a:lnSpc>
                <a:spcPts val="1425"/>
              </a:lnSpc>
            </a:pPr>
            <a:r>
              <a:rPr lang="en-US">
                <a:latin typeface="Gilroy-Light"/>
                <a:cs typeface="Segoe UI"/>
              </a:rPr>
              <a:t>​</a:t>
            </a:r>
          </a:p>
          <a:p>
            <a:pPr algn="ctr">
              <a:lnSpc>
                <a:spcPts val="1425"/>
              </a:lnSpc>
            </a:pPr>
            <a:r>
              <a:rPr lang="en-US">
                <a:solidFill>
                  <a:srgbClr val="00314D"/>
                </a:solidFill>
                <a:latin typeface="Gilroy-Light"/>
                <a:cs typeface="Segoe UI"/>
              </a:rPr>
              <a:t>CTA: Replace '</a:t>
            </a:r>
            <a:r>
              <a:rPr lang="en-US" b="1">
                <a:solidFill>
                  <a:srgbClr val="00314D"/>
                </a:solidFill>
                <a:latin typeface="Gilroy-Light"/>
                <a:cs typeface="Segoe UI"/>
              </a:rPr>
              <a:t>Talk to our Team</a:t>
            </a:r>
            <a:r>
              <a:rPr lang="en-US">
                <a:solidFill>
                  <a:srgbClr val="00314D"/>
                </a:solidFill>
                <a:latin typeface="Gilroy-Light"/>
                <a:cs typeface="Segoe UI"/>
              </a:rPr>
              <a:t>' with '</a:t>
            </a:r>
            <a:r>
              <a:rPr lang="en-US" b="1">
                <a:solidFill>
                  <a:srgbClr val="0070C0"/>
                </a:solidFill>
                <a:latin typeface="Gilroy-Light"/>
                <a:cs typeface="Segoe UI"/>
              </a:rPr>
              <a:t>Open an account online</a:t>
            </a:r>
            <a:r>
              <a:rPr lang="en-US">
                <a:solidFill>
                  <a:srgbClr val="00314D"/>
                </a:solidFill>
                <a:latin typeface="Gilroy-Light"/>
                <a:cs typeface="Segoe UI"/>
              </a:rPr>
              <a:t>' = linking to: TBD</a:t>
            </a:r>
            <a:r>
              <a:rPr lang="en-US">
                <a:latin typeface="Gilroy-Light"/>
                <a:cs typeface="Segoe UI"/>
              </a:rPr>
              <a:t>​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46E70A-284A-CACA-95B7-C7FE26D9BE15}"/>
              </a:ext>
            </a:extLst>
          </p:cNvPr>
          <p:cNvSpPr/>
          <p:nvPr/>
        </p:nvSpPr>
        <p:spPr>
          <a:xfrm>
            <a:off x="5489096" y="269734"/>
            <a:ext cx="3587468" cy="6945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655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SmoothMigration x NBC landing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</cp:revision>
  <dcterms:created xsi:type="dcterms:W3CDTF">2025-10-09T01:22:57Z</dcterms:created>
  <dcterms:modified xsi:type="dcterms:W3CDTF">2025-10-14T17:02:30Z</dcterms:modified>
</cp:coreProperties>
</file>